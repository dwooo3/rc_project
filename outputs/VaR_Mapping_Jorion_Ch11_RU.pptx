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500db106e42f8" /><Relationship Type="http://schemas.openxmlformats.org/officeDocument/2006/relationships/extended-properties" Target="/docProps/app.xml" Id="Rcf45126e2cd54ac6" /><Relationship Type="http://schemas.openxmlformats.org/officeDocument/2006/relationships/officeDocument" Target="/ppt/presentation.xml" Id="R2a39cb0c9c05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b7402914d34c96"/>
  </p:sldMasterIdLst>
  <p:notesMasterIdLst>
    <p:notesMasterId xmlns:r="http://schemas.openxmlformats.org/officeDocument/2006/relationships" r:id="R7a4dd61f597f4f47"/>
  </p:notesMasterIdLst>
  <p:sldIdLst>
    <p:sldId xmlns:r="http://schemas.openxmlformats.org/officeDocument/2006/relationships" id="256" r:id="R9a5089a1a6a741de"/>
    <p:sldId xmlns:r="http://schemas.openxmlformats.org/officeDocument/2006/relationships" id="257" r:id="Rb85fcb34cc6e4f42"/>
    <p:sldId xmlns:r="http://schemas.openxmlformats.org/officeDocument/2006/relationships" id="258" r:id="R9ae194d6f8e647ed"/>
    <p:sldId xmlns:r="http://schemas.openxmlformats.org/officeDocument/2006/relationships" id="259" r:id="R70a80690b0a4419b"/>
    <p:sldId xmlns:r="http://schemas.openxmlformats.org/officeDocument/2006/relationships" id="260" r:id="R2606ced9c7c544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afd8386bf496c" /><Relationship Type="http://schemas.openxmlformats.org/officeDocument/2006/relationships/slideMaster" Target="/ppt/slideMasters/slideMaster1.xml" Id="Rc6b7402914d34c96" /><Relationship Type="http://schemas.openxmlformats.org/officeDocument/2006/relationships/notesMaster" Target="/ppt/notesMasters/notesMaster1.xml" Id="R7a4dd61f597f4f47" /><Relationship Type="http://schemas.openxmlformats.org/officeDocument/2006/relationships/presProps" Target="/ppt/presProps.xml" Id="Rc3ea8cc48e824173" /><Relationship Type="http://schemas.openxmlformats.org/officeDocument/2006/relationships/tableStyles" Target="/ppt/tableStyles.xml" Id="Ra2ce75a742e34a8a" /><Relationship Type="http://schemas.openxmlformats.org/officeDocument/2006/relationships/slide" Target="/ppt/slides/slide1.xml" Id="R9a5089a1a6a741de" /><Relationship Type="http://schemas.openxmlformats.org/officeDocument/2006/relationships/slide" Target="/ppt/slides/slide2.xml" Id="Rb85fcb34cc6e4f42" /><Relationship Type="http://schemas.openxmlformats.org/officeDocument/2006/relationships/slide" Target="/ppt/slides/slide3.xml" Id="R9ae194d6f8e647ed" /><Relationship Type="http://schemas.openxmlformats.org/officeDocument/2006/relationships/slide" Target="/ppt/slides/slide4.xml" Id="R70a80690b0a4419b" /><Relationship Type="http://schemas.openxmlformats.org/officeDocument/2006/relationships/slide" Target="/ppt/slides/slide5.xml" Id="R2606ced9c7c544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c8d2df17d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f03c3c8b854275" /><Relationship Type="http://schemas.openxmlformats.org/officeDocument/2006/relationships/notesMaster" Target="/ppt/notesMasters/notesMaster1.xml" Id="Rd79193c796fa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0673bdf0204ae3" /><Relationship Type="http://schemas.openxmlformats.org/officeDocument/2006/relationships/notesMaster" Target="/ppt/notesMasters/notesMaster1.xml" Id="R334af18bbab645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fe030bfea143af" /><Relationship Type="http://schemas.openxmlformats.org/officeDocument/2006/relationships/notesMaster" Target="/ppt/notesMasters/notesMaster1.xml" Id="R55c7963d7121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6565b4bb994886" /><Relationship Type="http://schemas.openxmlformats.org/officeDocument/2006/relationships/notesMaster" Target="/ppt/notesMasters/notesMaster1.xml" Id="R226b4ba8313f4d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44314ce0e4148" /><Relationship Type="http://schemas.openxmlformats.org/officeDocument/2006/relationships/notesMaster" Target="/ppt/notesMasters/notesMaster1.xml" Id="R2074763c9e2a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840f82f3944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23c4f020cd45bd" /><Relationship Type="http://schemas.openxmlformats.org/officeDocument/2006/relationships/slideLayout" Target="/ppt/slideLayouts/slideLayout1.xml" Id="Rdb6cc9ccb4c74c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cc9ccb4c7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ce2289f0b4f73" /><Relationship Type="http://schemas.openxmlformats.org/officeDocument/2006/relationships/image" Target="/ppt/media/image.png" Id="Ra0ce5f32c20b48db" /><Relationship Type="http://schemas.openxmlformats.org/officeDocument/2006/relationships/notesSlide" Target="/ppt/notesSlides/notesSlide1.xml" Id="R81b403b0b8cd4f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009956a2c4290" /><Relationship Type="http://schemas.openxmlformats.org/officeDocument/2006/relationships/notesSlide" Target="/ppt/notesSlides/notesSlide2.xml" Id="R10545302cb7d4f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701a41f3a449e" /><Relationship Type="http://schemas.openxmlformats.org/officeDocument/2006/relationships/notesSlide" Target="/ppt/notesSlides/notesSlide3.xml" Id="Rd032b33b14eb4b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711992b9842ad" /><Relationship Type="http://schemas.openxmlformats.org/officeDocument/2006/relationships/chart" Target="/ppt/slides/charts/chart1.xml" Id="R2dd05ffea5cb443b" /><Relationship Type="http://schemas.openxmlformats.org/officeDocument/2006/relationships/notesSlide" Target="/ppt/notesSlides/notesSlide4.xml" Id="Rebcf6f56a4cd46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7aa391ec14a77" /><Relationship Type="http://schemas.openxmlformats.org/officeDocument/2006/relationships/notesSlide" Target="/ppt/notesSlides/notesSlide5.xml" Id="Rf451b158225f4f2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VaR</c:v>
          </c:tx>
          <c:spPr>
            <a:solidFill xmlns:a="http://schemas.openxmlformats.org/drawingml/2006/main">
              <a:srgbClr val="4478FF"/>
            </a:solidFill>
          </c:spPr>
          <c:dPt>
            <c:idx val="0"/>
            <c:spPr>
              <a:solidFill xmlns:a="http://schemas.openxmlformats.org/drawingml/2006/main">
                <a:srgbClr val="738DFF"/>
              </a:solidFill>
            </c:spPr>
          </c:dPt>
          <c:dPt>
            <c:idx val="1"/>
            <c:spPr>
              <a:solidFill xmlns:a="http://schemas.openxmlformats.org/drawingml/2006/main">
                <a:srgbClr val="4478FF"/>
              </a:solidFill>
            </c:spPr>
          </c:dPt>
          <c:dPt>
            <c:idx val="2"/>
            <c:spPr>
              <a:solidFill xmlns:a="http://schemas.openxmlformats.org/drawingml/2006/main">
                <a:srgbClr val="3A55E6"/>
              </a:solidFill>
            </c:spPr>
          </c:dPt>
          <c:dPt>
            <c:idx val="3"/>
            <c:spPr>
              <a:solidFill xmlns:a="http://schemas.openxmlformats.org/drawingml/2006/main">
                <a:srgbClr val="2634D6"/>
              </a:solidFill>
            </c:spPr>
          </c:dPt>
          <c:cat>
            <c:strLit>
              <c:ptCount val="4"/>
              <c:pt idx="0">
                <c:v>Principal</c:v>
              </c:pt>
              <c:pt idx="1">
                <c:v>Duration</c:v>
              </c:pt>
              <c:pt idx="2">
                <c:v>CF undiv.</c:v>
              </c:pt>
              <c:pt idx="3">
                <c:v>CF diversified</c:v>
              </c:pt>
            </c:strLit>
          </c:cat>
          <c:val>
            <c:numLit>
              <c:formatCode>0.00</c:formatCode>
              <c:ptCount val="4"/>
              <c:pt idx="0">
                <c:v>2.968</c:v>
              </c:pt>
              <c:pt idx="1">
                <c:v>2.7022</c:v>
              </c:pt>
              <c:pt idx="2">
                <c:v>2.6339</c:v>
              </c:pt>
              <c:pt idx="3">
                <c:v>2.5736</c:v>
              </c:pt>
            </c:numLit>
          </c:val>
        </c:ser>
        <c:dLbls>
          <c:spPr>
            <a:solidFill xmlns:a="http://schemas.openxmlformats.org/drawingml/2006/main">
              <a:srgbClr val="000000">
                <a:alpha val="0"/>
              </a:srgbClr>
            </a:solidFill>
            <a:ln xmlns:a="http://schemas.openxmlformats.org/drawingml/2006/main" w="0">
              <a:solidFill>
                <a:srgbClr val="000000">
                  <a:alpha val="0"/>
                </a:srgbClr>
              </a:solidFill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2634D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252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.2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000000">
                    <a:alpha val="0"/>
                  </a:srgbClr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e5f32c20b48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glass-panel">
            <a:extLst xmlns:a="http://schemas.openxmlformats.org/drawingml/2006/main">
              <a:ext uri="{FF2B5EF4-FFF2-40B4-BE49-F238E27FC236}">
                <a16:creationId xmlns:a16="http://schemas.microsoft.com/office/drawing/2014/main" id="{BFDDC75B-3B61-46CE-A598-B7D93543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543800" cy="58674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634D6">
              <a:alpha val="28000"/>
            </a:srgbClr>
          </a:solidFill>
          <a:ln xmlns:a="http://schemas.openxmlformats.org/drawingml/2006/main" w="14288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8181CDE-2F44-4361-81EB-EBDADEA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334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>
                    <a:alpha val="78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>
                    <a:alpha val="78000"/>
                  </a:srgbClr>
                </a:solidFill>
                <a:latin typeface="Arial"/>
                <a:ea typeface="Arial"/>
                <a:cs typeface="Arial"/>
              </a:rPr>
              <a:t>FRM PART II  /  MARKET RISK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EF3E443-910B-4EEA-AF87-A8647404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 Mapping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8B5BBD-414C-409F-86D2-BCD4CB87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сложный портфель превращается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управляемые факторы риска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CBF26-5387-4224-84B5-7822E21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72000"/>
              </a:srgbClr>
            </a:solidFill>
            <a:prstDash val="solid"/>
          </a:ln>
        </p:spPr>
      </p:sp>
      <p:sp>
        <p:nvSpPr>
          <p:cNvPr id="7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5CEA6AB2-6448-4C38-BD04-1FBA0745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Jorion · Chapter 11</a:t>
            </a:r>
          </a:p>
        </p:txBody>
      </p:sp>
      <p:sp>
        <p:nvSpPr>
          <p:cNvPr id="8" name="cover-process">
            <a:extLst xmlns:a="http://schemas.openxmlformats.org/drawingml/2006/main">
              <a:ext uri="{FF2B5EF4-FFF2-40B4-BE49-F238E27FC236}">
                <a16:creationId xmlns:a16="http://schemas.microsoft.com/office/drawing/2014/main" id="{A729D31B-DB67-4986-B288-1915AAA8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>
                    <a:alpha val="8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>
                    <a:alpha val="82000"/>
                  </a:srgbClr>
                </a:solidFill>
                <a:latin typeface="Arial"/>
                <a:ea typeface="Arial"/>
                <a:cs typeface="Arial"/>
              </a:rPr>
              <a:t>Decompose  →  Map  →  Aggregate</a:t>
            </a:r>
          </a:p>
        </p:txBody>
      </p:sp>
      <p:sp>
        <p:nvSpPr>
          <p:cNvPr id="9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370705DB-20E3-447A-A06A-0C1E64F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886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0211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outer-frame">
            <a:extLst xmlns:a="http://schemas.openxmlformats.org/drawingml/2006/main">
              <a:ext uri="{FF2B5EF4-FFF2-40B4-BE49-F238E27FC236}">
                <a16:creationId xmlns:a16="http://schemas.microsoft.com/office/drawing/2014/main" id="{BFF9BBE4-D013-4EF6-93F4-D015428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634D6"/>
            </a:solidFill>
            <a:prstDash val="solid"/>
          </a:ln>
        </p:spPr>
      </p:sp>
      <p:sp>
        <p:nvSpPr>
          <p:cNvPr id="2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80764131-433D-494A-98C8-D02AE88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Источник: Jorion, Chapter 11, PDF pp. 3-10</a:t>
            </a:r>
          </a:p>
        </p:txBody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9AEADE2-CBD8-45A9-8FE2-D7E1D4F9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инцип-eyebrow">
            <a:extLst xmlns:a="http://schemas.openxmlformats.org/drawingml/2006/main">
              <a:ext uri="{FF2B5EF4-FFF2-40B4-BE49-F238E27FC236}">
                <a16:creationId xmlns:a16="http://schemas.microsoft.com/office/drawing/2014/main" id="{4A839A94-C937-4412-BAB2-13E19F1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478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478FF"/>
                </a:solidFill>
                <a:latin typeface="Arial"/>
                <a:ea typeface="Arial"/>
                <a:cs typeface="Arial"/>
              </a:rPr>
              <a:t>ПРИНЦИП</a:t>
            </a:r>
          </a:p>
        </p:txBody>
      </p:sp>
      <p:sp>
        <p:nvSpPr>
          <p:cNvPr id="5" name="Принцип-title">
            <a:extLst xmlns:a="http://schemas.openxmlformats.org/drawingml/2006/main">
              <a:ext uri="{FF2B5EF4-FFF2-40B4-BE49-F238E27FC236}">
                <a16:creationId xmlns:a16="http://schemas.microsoft.com/office/drawing/2014/main" id="{F9250462-2D42-4AFD-9CA7-FEEBDABB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Mapping сводит позиции к факторам риска</a:t>
            </a:r>
          </a:p>
        </p:txBody>
      </p:sp>
      <p:sp>
        <p:nvSpPr>
          <p:cNvPr id="6" name="mapping-canvas">
            <a:extLst xmlns:a="http://schemas.openxmlformats.org/drawingml/2006/main">
              <a:ext uri="{FF2B5EF4-FFF2-40B4-BE49-F238E27FC236}">
                <a16:creationId xmlns:a16="http://schemas.microsoft.com/office/drawing/2014/main" id="{95382C32-6427-4A73-8D5F-3A071AC9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77100" cy="48387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9F6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7" name="portfolio-label">
            <a:extLst xmlns:a="http://schemas.openxmlformats.org/drawingml/2006/main">
              <a:ext uri="{FF2B5EF4-FFF2-40B4-BE49-F238E27FC236}">
                <a16:creationId xmlns:a16="http://schemas.microsoft.com/office/drawing/2014/main" id="{98779C5F-395C-4354-BE9C-FA4113DE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ПОЗИЦИИ ПОРТФЕЛЯ</a:t>
            </a:r>
          </a:p>
        </p:txBody>
      </p:sp>
      <p:sp>
        <p:nvSpPr>
          <p:cNvPr id="8" name="primitives-label">
            <a:extLst xmlns:a="http://schemas.openxmlformats.org/drawingml/2006/main">
              <a:ext uri="{FF2B5EF4-FFF2-40B4-BE49-F238E27FC236}">
                <a16:creationId xmlns:a16="http://schemas.microsoft.com/office/drawing/2014/main" id="{4393D07A-E19F-4AED-89E0-D6534A45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PRIMITIVES</a:t>
            </a:r>
          </a:p>
        </p:txBody>
      </p:sp>
      <p:sp>
        <p:nvSpPr>
          <p:cNvPr id="9" name="instrument-1">
            <a:extLst xmlns:a="http://schemas.openxmlformats.org/drawingml/2006/main">
              <a:ext uri="{FF2B5EF4-FFF2-40B4-BE49-F238E27FC236}">
                <a16:creationId xmlns:a16="http://schemas.microsoft.com/office/drawing/2014/main" id="{7CCB666A-7F85-480C-ADF4-0B8DF236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13525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8DFF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Облигации</a:t>
            </a:r>
          </a:p>
        </p:txBody>
      </p:sp>
      <p:sp>
        <p:nvSpPr>
          <p:cNvPr id="10" name="instrument-2">
            <a:extLst xmlns:a="http://schemas.openxmlformats.org/drawingml/2006/main">
              <a:ext uri="{FF2B5EF4-FFF2-40B4-BE49-F238E27FC236}">
                <a16:creationId xmlns:a16="http://schemas.microsoft.com/office/drawing/2014/main" id="{192DD80A-FEAC-48CD-A2A7-3BD163B8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24050"/>
            <a:ext cx="13525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8DFF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Акции</a:t>
            </a:r>
          </a:p>
        </p:txBody>
      </p:sp>
      <p:sp>
        <p:nvSpPr>
          <p:cNvPr id="11" name="instrument-3">
            <a:extLst xmlns:a="http://schemas.openxmlformats.org/drawingml/2006/main">
              <a:ext uri="{FF2B5EF4-FFF2-40B4-BE49-F238E27FC236}">
                <a16:creationId xmlns:a16="http://schemas.microsoft.com/office/drawing/2014/main" id="{57274ED6-25A0-437C-90D9-E4BFC29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13525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8DFF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FX</a:t>
            </a:r>
          </a:p>
        </p:txBody>
      </p:sp>
      <p:sp>
        <p:nvSpPr>
          <p:cNvPr id="12" name="instrument-4">
            <a:extLst xmlns:a="http://schemas.openxmlformats.org/drawingml/2006/main">
              <a:ext uri="{FF2B5EF4-FFF2-40B4-BE49-F238E27FC236}">
                <a16:creationId xmlns:a16="http://schemas.microsoft.com/office/drawing/2014/main" id="{60C62ECA-62E0-466B-87F5-8CAA2831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24050"/>
            <a:ext cx="13525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9525">
            <a:solidFill>
              <a:srgbClr val="738DFF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Деривативы</a:t>
            </a:r>
          </a:p>
        </p:txBody>
      </p:sp>
      <p:sp>
        <p:nvSpPr>
          <p:cNvPr id="13" name="factor-1">
            <a:extLst xmlns:a="http://schemas.openxmlformats.org/drawingml/2006/main">
              <a:ext uri="{FF2B5EF4-FFF2-40B4-BE49-F238E27FC236}">
                <a16:creationId xmlns:a16="http://schemas.microsoft.com/office/drawing/2014/main" id="{D2B4BD79-AFEF-4553-BB83-1EE48C09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12001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8FF"/>
          </a:solidFill>
          <a:ln xmlns:a="http://schemas.openxmlformats.org/drawingml/2006/main" w="9525">
            <a:solidFill>
              <a:srgbClr val="4478FF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Кривая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ставок</a:t>
            </a:r>
          </a:p>
        </p:txBody>
      </p:sp>
      <p:sp>
        <p:nvSpPr>
          <p:cNvPr id="14" name="factor-2">
            <a:extLst xmlns:a="http://schemas.openxmlformats.org/drawingml/2006/main">
              <a:ext uri="{FF2B5EF4-FFF2-40B4-BE49-F238E27FC236}">
                <a16:creationId xmlns:a16="http://schemas.microsoft.com/office/drawing/2014/main" id="{018A3DF5-6A72-48EF-B80E-4AD11958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12001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8FF"/>
          </a:solidFill>
          <a:ln xmlns:a="http://schemas.openxmlformats.org/drawingml/2006/main" w="9525">
            <a:solidFill>
              <a:srgbClr val="4478FF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Рынок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FX</a:t>
            </a:r>
          </a:p>
        </p:txBody>
      </p:sp>
      <p:sp>
        <p:nvSpPr>
          <p:cNvPr id="15" name="factor-3">
            <a:extLst xmlns:a="http://schemas.openxmlformats.org/drawingml/2006/main">
              <a:ext uri="{FF2B5EF4-FFF2-40B4-BE49-F238E27FC236}">
                <a16:creationId xmlns:a16="http://schemas.microsoft.com/office/drawing/2014/main" id="{A121DFB2-429F-45E0-904C-DFF6797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24250"/>
            <a:ext cx="12001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E5FF"/>
          </a:solidFill>
          <a:ln xmlns:a="http://schemas.openxmlformats.org/drawingml/2006/main" w="9525">
            <a:solidFill>
              <a:srgbClr val="738DFF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Specific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6" name="risk-aggregation">
            <a:extLst xmlns:a="http://schemas.openxmlformats.org/drawingml/2006/main">
              <a:ext uri="{FF2B5EF4-FFF2-40B4-BE49-F238E27FC236}">
                <a16:creationId xmlns:a16="http://schemas.microsoft.com/office/drawing/2014/main" id="{9BD022B8-771A-4209-B993-9C3B9BC4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48250"/>
            <a:ext cx="379095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2634D6"/>
          </a:solidFill>
          <a:ln xmlns:a="http://schemas.openxmlformats.org/drawingml/2006/main" w="9525">
            <a:solidFill>
              <a:srgbClr val="2634D6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  +  корреляции  =  VaR</a:t>
            </a:r>
          </a:p>
        </p:txBody>
      </p:sp>
      <p:cxnSp>
        <p:nvCxnSpPr>
          <p:cNvPr id="53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rot="16200000" flipH="1">
            <a:off x="1133475" y="2857500"/>
            <a:ext cx="1009650" cy="323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rot="16200000" flipH="1">
            <a:off x="2962275" y="2628900"/>
            <a:ext cx="1009650" cy="7810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rot="5400000">
            <a:off x="3762375" y="2609850"/>
            <a:ext cx="1009650" cy="819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rot="5400000">
            <a:off x="3533775" y="781050"/>
            <a:ext cx="1009650" cy="4476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rot="5400000">
            <a:off x="5591175" y="2838450"/>
            <a:ext cx="1009650" cy="3619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4"/>
            <a:endCxn xmlns:a="http://schemas.openxmlformats.org/drawingml/2006/main" id="16" idx="0"/>
          </p:cNvCxnSpPr>
          <p:nvPr/>
        </p:nvCxnSpPr>
        <p:spPr>
          <a:xfrm xmlns:a="http://schemas.openxmlformats.org/drawingml/2006/main" rot="16200000" flipH="1">
            <a:off x="2676525" y="3562350"/>
            <a:ext cx="609600" cy="2362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4"/>
            <a:endCxn xmlns:a="http://schemas.openxmlformats.org/drawingml/2006/main" id="16" idx="0"/>
          </p:cNvCxnSpPr>
          <p:nvPr/>
        </p:nvCxnSpPr>
        <p:spPr>
          <a:xfrm xmlns:a="http://schemas.openxmlformats.org/drawingml/2006/main" rot="16200000" flipH="1">
            <a:off x="3705225" y="4591050"/>
            <a:ext cx="609600" cy="304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5" idx="4"/>
            <a:endCxn xmlns:a="http://schemas.openxmlformats.org/drawingml/2006/main" id="16" idx="0"/>
          </p:cNvCxnSpPr>
          <p:nvPr/>
        </p:nvCxnSpPr>
        <p:spPr>
          <a:xfrm xmlns:a="http://schemas.openxmlformats.org/drawingml/2006/main" rot="5400000">
            <a:off x="4733925" y="3867150"/>
            <a:ext cx="609600" cy="1752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8DFF"/>
            </a:solidFill>
            <a:prstDash val="solid"/>
            <a:tailEnd type="triangle" w="sm" len="sm"/>
          </a:ln>
        </p:spPr>
      </p:cxnSp>
      <p:sp>
        <p:nvSpPr>
          <p:cNvPr id="25" name="mapping-formula-panel">
            <a:extLst xmlns:a="http://schemas.openxmlformats.org/drawingml/2006/main">
              <a:ext uri="{FF2B5EF4-FFF2-40B4-BE49-F238E27FC236}">
                <a16:creationId xmlns:a16="http://schemas.microsoft.com/office/drawing/2014/main" id="{F5893D20-827B-45B0-865E-6538F0A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33500"/>
            <a:ext cx="3600450" cy="48387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26" name="factor-exposure-pill">
            <a:extLst xmlns:a="http://schemas.openxmlformats.org/drawingml/2006/main">
              <a:ext uri="{FF2B5EF4-FFF2-40B4-BE49-F238E27FC236}">
                <a16:creationId xmlns:a16="http://schemas.microsoft.com/office/drawing/2014/main" id="{A276E883-6DDE-40FC-8DF7-1936553A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ЭКСПОЗИЦИЯ К ФАКТОРУ j</a:t>
            </a:r>
          </a:p>
        </p:txBody>
      </p:sp>
      <p:sp>
        <p:nvSpPr>
          <p:cNvPr id="27" name="exposure-formula">
            <a:extLst xmlns:a="http://schemas.openxmlformats.org/drawingml/2006/main">
              <a:ext uri="{FF2B5EF4-FFF2-40B4-BE49-F238E27FC236}">
                <a16:creationId xmlns:a16="http://schemas.microsoft.com/office/drawing/2014/main" id="{90506AE5-F500-4A93-8CE3-23490BC7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xⱼ = Σᵢ₌₁ᴺ xᵢⱼ</a:t>
            </a:r>
          </a:p>
        </p:txBody>
      </p:sp>
      <p:sp>
        <p:nvSpPr>
          <p:cNvPr id="28" name="exposure-explainer">
            <a:extLst xmlns:a="http://schemas.openxmlformats.org/drawingml/2006/main">
              <a:ext uri="{FF2B5EF4-FFF2-40B4-BE49-F238E27FC236}">
                <a16:creationId xmlns:a16="http://schemas.microsoft.com/office/drawing/2014/main" id="{48E2D588-97BE-4506-9A33-EF3F063E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Суммируем вклад каждого инструмента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в один и тот же фактор риска.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12828-7057-4ABC-AAA7-DF6BF8B8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E5FF"/>
            </a:solidFill>
            <a:prstDash val="solid"/>
          </a:ln>
        </p:spPr>
      </p:sp>
      <p:sp>
        <p:nvSpPr>
          <p:cNvPr id="30" name="risk-layers-header">
            <a:extLst xmlns:a="http://schemas.openxmlformats.org/drawingml/2006/main">
              <a:ext uri="{FF2B5EF4-FFF2-40B4-BE49-F238E27FC236}">
                <a16:creationId xmlns:a16="http://schemas.microsoft.com/office/drawing/2014/main" id="{ED1DD32A-45D4-43A2-AD40-FC62B8B6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528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GENERAL  +  SPECIFIC</a:t>
            </a:r>
          </a:p>
        </p:txBody>
      </p:sp>
      <p:sp>
        <p:nvSpPr>
          <p:cNvPr id="31" name="factor-model-formula">
            <a:extLst xmlns:a="http://schemas.openxmlformats.org/drawingml/2006/main">
              <a:ext uri="{FF2B5EF4-FFF2-40B4-BE49-F238E27FC236}">
                <a16:creationId xmlns:a16="http://schemas.microsoft.com/office/drawing/2014/main" id="{D17A3D5B-86BD-4226-86F1-0ED98A36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25252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252525"/>
                </a:solidFill>
                <a:latin typeface="Cambria Math"/>
                <a:ea typeface="Cambria Math"/>
                <a:cs typeface="Cambria Math"/>
              </a:rPr>
              <a:t>Rᵢ = αᵢ + βᵢRₘ + εᵢ</a:t>
            </a:r>
          </a:p>
        </p:txBody>
      </p:sp>
      <p:sp>
        <p:nvSpPr>
          <p:cNvPr id="32" name="general-risk-band">
            <a:extLst xmlns:a="http://schemas.openxmlformats.org/drawingml/2006/main">
              <a:ext uri="{FF2B5EF4-FFF2-40B4-BE49-F238E27FC236}">
                <a16:creationId xmlns:a16="http://schemas.microsoft.com/office/drawing/2014/main" id="{2BC3F670-27A7-41B4-B8A2-59F99B4B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29146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arket-risk-share">
            <a:extLst xmlns:a="http://schemas.openxmlformats.org/drawingml/2006/main">
              <a:ext uri="{FF2B5EF4-FFF2-40B4-BE49-F238E27FC236}">
                <a16:creationId xmlns:a16="http://schemas.microsoft.com/office/drawing/2014/main" id="{486392B9-5578-4AF7-AD65-1118EC7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2095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44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arket-label">
            <a:extLst xmlns:a="http://schemas.openxmlformats.org/drawingml/2006/main">
              <a:ext uri="{FF2B5EF4-FFF2-40B4-BE49-F238E27FC236}">
                <a16:creationId xmlns:a16="http://schemas.microsoft.com/office/drawing/2014/main" id="{E113E388-E32A-475D-8550-07B957EC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01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35" name="residual-label">
            <a:extLst xmlns:a="http://schemas.openxmlformats.org/drawingml/2006/main">
              <a:ext uri="{FF2B5EF4-FFF2-40B4-BE49-F238E27FC236}">
                <a16:creationId xmlns:a16="http://schemas.microsoft.com/office/drawing/2014/main" id="{E57978CD-43B6-409C-9287-E782D0CB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8101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36" name="factor-tradeoff">
            <a:extLst xmlns:a="http://schemas.openxmlformats.org/drawingml/2006/main">
              <a:ext uri="{FF2B5EF4-FFF2-40B4-BE49-F238E27FC236}">
                <a16:creationId xmlns:a16="http://schemas.microsoft.com/office/drawing/2014/main" id="{616926C4-325A-4C67-ADA3-E50BE6F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Больше факторов → меньше остаточного риска,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но выше стоимость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018905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outer-frame">
            <a:extLst xmlns:a="http://schemas.openxmlformats.org/drawingml/2006/main">
              <a:ext uri="{FF2B5EF4-FFF2-40B4-BE49-F238E27FC236}">
                <a16:creationId xmlns:a16="http://schemas.microsoft.com/office/drawing/2014/main" id="{A1165A35-11FA-4B4C-9D6E-2CED27A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634D6"/>
            </a:solidFill>
            <a:prstDash val="solid"/>
          </a:ln>
        </p:spPr>
      </p:sp>
      <p:sp>
        <p:nvSpPr>
          <p:cNvPr id="2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D0E83374-B159-4325-B697-E7DEAA11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Источник: Jorion, Chapter 11, PDF pp. 11-14</a:t>
            </a:r>
          </a:p>
        </p:txBody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3056BBCC-80DD-46AF-B6F3-E8B52E73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ixed income-eyebrow">
            <a:extLst xmlns:a="http://schemas.openxmlformats.org/drawingml/2006/main">
              <a:ext uri="{FF2B5EF4-FFF2-40B4-BE49-F238E27FC236}">
                <a16:creationId xmlns:a16="http://schemas.microsoft.com/office/drawing/2014/main" id="{0DBEE5DD-3F5D-40A9-8E45-ABE89414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478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478FF"/>
                </a:solidFill>
                <a:latin typeface="Arial"/>
                <a:ea typeface="Arial"/>
                <a:cs typeface="Arial"/>
              </a:rPr>
              <a:t>FIXED INCOME</a:t>
            </a:r>
          </a:p>
        </p:txBody>
      </p:sp>
      <p:sp>
        <p:nvSpPr>
          <p:cNvPr id="5" name="Fixed income-title">
            <a:extLst xmlns:a="http://schemas.openxmlformats.org/drawingml/2006/main">
              <a:ext uri="{FF2B5EF4-FFF2-40B4-BE49-F238E27FC236}">
                <a16:creationId xmlns:a16="http://schemas.microsoft.com/office/drawing/2014/main" id="{074CF314-F6B4-45E6-917B-D21D51C3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Облигации: три уровня точности</a:t>
            </a:r>
          </a:p>
        </p:txBody>
      </p:sp>
      <p:sp>
        <p:nvSpPr>
          <p:cNvPr id="6" name="method-card-1">
            <a:extLst xmlns:a="http://schemas.openxmlformats.org/drawingml/2006/main">
              <a:ext uri="{FF2B5EF4-FFF2-40B4-BE49-F238E27FC236}">
                <a16:creationId xmlns:a16="http://schemas.microsoft.com/office/drawing/2014/main" id="{53BD4336-7F11-4A7D-B9C6-8789BA2D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3371850" cy="35623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F6"/>
          </a:solidFill>
          <a:ln xmlns:a="http://schemas.openxmlformats.org/drawingml/2006/main" w="11430">
            <a:solidFill>
              <a:srgbClr val="D1E5FF"/>
            </a:solidFill>
            <a:prstDash val="solid"/>
          </a:ln>
        </p:spPr>
      </p:sp>
      <p:sp>
        <p:nvSpPr>
          <p:cNvPr id="7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C912F00C-84CE-40E8-9BDC-29A758D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4DC16F19-5884-4713-A9E0-6A0EBCA5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Principal</a:t>
            </a:r>
          </a:p>
        </p:txBody>
      </p:sp>
      <p:sp>
        <p:nvSpPr>
          <p:cNvPr id="9" name="method-subtitle-1">
            <a:extLst xmlns:a="http://schemas.openxmlformats.org/drawingml/2006/main">
              <a:ext uri="{FF2B5EF4-FFF2-40B4-BE49-F238E27FC236}">
                <a16:creationId xmlns:a16="http://schemas.microsoft.com/office/drawing/2014/main" id="{C4166C00-6EE5-42C6-B15D-6F3E2360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3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38DFF"/>
                </a:solidFill>
                <a:latin typeface="Arial"/>
                <a:ea typeface="Arial"/>
                <a:cs typeface="Arial"/>
              </a:rPr>
              <a:t>Средний срок погашения</a:t>
            </a:r>
          </a:p>
        </p:txBody>
      </p:sp>
      <p:sp>
        <p:nvSpPr>
          <p:cNvPr id="10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4E5B98BE-F123-4AFC-8713-BA200D5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Один vertex. Купоны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не учитываются.</a:t>
            </a:r>
          </a:p>
        </p:txBody>
      </p:sp>
      <p:sp>
        <p:nvSpPr>
          <p:cNvPr id="11" name="method-card-2">
            <a:extLst xmlns:a="http://schemas.openxmlformats.org/drawingml/2006/main">
              <a:ext uri="{FF2B5EF4-FFF2-40B4-BE49-F238E27FC236}">
                <a16:creationId xmlns:a16="http://schemas.microsoft.com/office/drawing/2014/main" id="{9223FD5E-442A-4531-AB10-CDB5F16A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28750"/>
            <a:ext cx="3371850" cy="35623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D1E5FF"/>
            </a:solidFill>
            <a:prstDash val="solid"/>
          </a:ln>
        </p:spPr>
      </p:sp>
      <p:sp>
        <p:nvSpPr>
          <p:cNvPr id="12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75364164-C9DC-4487-81DD-511E6F45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38300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6004C56E-A233-442C-A130-2FDF1CF1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Duration</a:t>
            </a:r>
          </a:p>
        </p:txBody>
      </p:sp>
      <p:sp>
        <p:nvSpPr>
          <p:cNvPr id="14" name="method-subtitle-2">
            <a:extLst xmlns:a="http://schemas.openxmlformats.org/drawingml/2006/main">
              <a:ext uri="{FF2B5EF4-FFF2-40B4-BE49-F238E27FC236}">
                <a16:creationId xmlns:a16="http://schemas.microsoft.com/office/drawing/2014/main" id="{ED227E28-346A-479A-AE14-B9CD71D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478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478FF"/>
                </a:solidFill>
                <a:latin typeface="Arial"/>
                <a:ea typeface="Arial"/>
                <a:cs typeface="Arial"/>
              </a:rPr>
              <a:t>Macaulay duration</a:t>
            </a:r>
          </a:p>
        </p:txBody>
      </p:sp>
      <p:sp>
        <p:nvSpPr>
          <p:cNvPr id="15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A07248F6-6103-4A09-8696-07DD68A0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86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Один vertex, но купоны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встроены через duration.</a:t>
            </a:r>
          </a:p>
        </p:txBody>
      </p:sp>
      <p:sp>
        <p:nvSpPr>
          <p:cNvPr id="16" name="method-card-3">
            <a:extLst xmlns:a="http://schemas.openxmlformats.org/drawingml/2006/main">
              <a:ext uri="{FF2B5EF4-FFF2-40B4-BE49-F238E27FC236}">
                <a16:creationId xmlns:a16="http://schemas.microsoft.com/office/drawing/2014/main" id="{62E134CF-EFFB-468D-9414-D07A0D24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371850" cy="35623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11430">
            <a:solidFill>
              <a:srgbClr val="738DFF"/>
            </a:solidFill>
            <a:prstDash val="solid"/>
          </a:ln>
        </p:spPr>
      </p:sp>
      <p:sp>
        <p:nvSpPr>
          <p:cNvPr id="17" name="method-number-3">
            <a:extLst xmlns:a="http://schemas.openxmlformats.org/drawingml/2006/main">
              <a:ext uri="{FF2B5EF4-FFF2-40B4-BE49-F238E27FC236}">
                <a16:creationId xmlns:a16="http://schemas.microsoft.com/office/drawing/2014/main" id="{216CA0BE-4820-4378-88A4-BC51106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38300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A80DC061-3CC7-48DA-B5DF-96C0EF7F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Cash-flow</a:t>
            </a:r>
          </a:p>
        </p:txBody>
      </p:sp>
      <p:sp>
        <p:nvSpPr>
          <p:cNvPr id="19" name="method-subtitle-3">
            <a:extLst xmlns:a="http://schemas.openxmlformats.org/drawingml/2006/main">
              <a:ext uri="{FF2B5EF4-FFF2-40B4-BE49-F238E27FC236}">
                <a16:creationId xmlns:a16="http://schemas.microsoft.com/office/drawing/2014/main" id="{F9E52559-EDC3-4A91-B400-BF0E14F5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Каждый PV cash flow</a:t>
            </a:r>
          </a:p>
        </p:txBody>
      </p:sp>
      <p:sp>
        <p:nvSpPr>
          <p:cNvPr id="20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D7BE8C9B-087A-401E-B5F0-9C2ADDAE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Несколько vertices +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матрица корреляций.</a:t>
            </a:r>
          </a:p>
        </p:txBody>
      </p:sp>
      <p:sp>
        <p:nvSpPr>
          <p:cNvPr id="21" name="principal-vertex">
            <a:extLst xmlns:a="http://schemas.openxmlformats.org/drawingml/2006/main">
              <a:ext uri="{FF2B5EF4-FFF2-40B4-BE49-F238E27FC236}">
                <a16:creationId xmlns:a16="http://schemas.microsoft.com/office/drawing/2014/main" id="{F5C86B55-3968-43CB-99A6-1049CBE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43350"/>
            <a:ext cx="99060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8DFF"/>
          </a:solidFill>
          <a:ln xmlns:a="http://schemas.openxmlformats.org/drawingml/2006/main" w="9525">
            <a:solidFill>
              <a:srgbClr val="73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3.0Y</a:t>
            </a:r>
          </a:p>
        </p:txBody>
      </p:sp>
      <p:sp>
        <p:nvSpPr>
          <p:cNvPr id="22" name="duration-vertex">
            <a:extLst xmlns:a="http://schemas.openxmlformats.org/drawingml/2006/main">
              <a:ext uri="{FF2B5EF4-FFF2-40B4-BE49-F238E27FC236}">
                <a16:creationId xmlns:a16="http://schemas.microsoft.com/office/drawing/2014/main" id="{8F095671-74B1-4A2F-89CF-CF818016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48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8FF"/>
          </a:solidFill>
          <a:ln xmlns:a="http://schemas.openxmlformats.org/drawingml/2006/main" w="9525">
            <a:solidFill>
              <a:srgbClr val="4478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2.733Y</a:t>
            </a:r>
          </a:p>
        </p:txBody>
      </p:sp>
      <p:sp>
        <p:nvSpPr>
          <p:cNvPr id="23" name="cashflow-vertex-1">
            <a:extLst xmlns:a="http://schemas.openxmlformats.org/drawingml/2006/main">
              <a:ext uri="{FF2B5EF4-FFF2-40B4-BE49-F238E27FC236}">
                <a16:creationId xmlns:a16="http://schemas.microsoft.com/office/drawing/2014/main" id="{FCE12D47-C503-4B6C-944D-30C1F48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34D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1Y</a:t>
            </a:r>
          </a:p>
        </p:txBody>
      </p:sp>
      <p:sp>
        <p:nvSpPr>
          <p:cNvPr id="24" name="cashflow-vertex-2">
            <a:extLst xmlns:a="http://schemas.openxmlformats.org/drawingml/2006/main">
              <a:ext uri="{FF2B5EF4-FFF2-40B4-BE49-F238E27FC236}">
                <a16:creationId xmlns:a16="http://schemas.microsoft.com/office/drawing/2014/main" id="{814FF8D8-C96C-4642-83C1-780C186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34D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2Y</a:t>
            </a:r>
          </a:p>
        </p:txBody>
      </p:sp>
      <p:sp>
        <p:nvSpPr>
          <p:cNvPr id="25" name="cashflow-vertex-3">
            <a:extLst xmlns:a="http://schemas.openxmlformats.org/drawingml/2006/main">
              <a:ext uri="{FF2B5EF4-FFF2-40B4-BE49-F238E27FC236}">
                <a16:creationId xmlns:a16="http://schemas.microsoft.com/office/drawing/2014/main" id="{AF150B79-D8B9-4661-BA2C-53B2B81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34D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3Y</a:t>
            </a:r>
          </a:p>
        </p:txBody>
      </p:sp>
      <p:sp>
        <p:nvSpPr>
          <p:cNvPr id="26" name="cashflow-vertex-4">
            <a:extLst xmlns:a="http://schemas.openxmlformats.org/drawingml/2006/main">
              <a:ext uri="{FF2B5EF4-FFF2-40B4-BE49-F238E27FC236}">
                <a16:creationId xmlns:a16="http://schemas.microsoft.com/office/drawing/2014/main" id="{2A06D6E5-7F88-4C0D-97E6-B482C411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43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34D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4Y</a:t>
            </a:r>
          </a:p>
        </p:txBody>
      </p:sp>
      <p:sp>
        <p:nvSpPr>
          <p:cNvPr id="27" name="cashflow-vertex-5">
            <a:extLst xmlns:a="http://schemas.openxmlformats.org/drawingml/2006/main">
              <a:ext uri="{FF2B5EF4-FFF2-40B4-BE49-F238E27FC236}">
                <a16:creationId xmlns:a16="http://schemas.microsoft.com/office/drawing/2014/main" id="{C5D4ABA5-DDFA-472A-B5E7-41BAF134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4D6"/>
          </a:solidFill>
          <a:ln xmlns:a="http://schemas.openxmlformats.org/drawingml/2006/main" w="14288">
            <a:solidFill>
              <a:srgbClr val="2634D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580E0-16C5-4D21-9BBB-37695BCC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958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1 фактор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0EFE3-F08D-4577-B9E9-2735D394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958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1 фактор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FB21AF-D6CE-4057-B18F-081B7AEF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6958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5 факторов</a:t>
            </a:r>
          </a:p>
        </p:txBody>
      </p:sp>
      <p:sp>
        <p:nvSpPr>
          <p:cNvPr id="31" name="duration-formula-band">
            <a:extLst xmlns:a="http://schemas.openxmlformats.org/drawingml/2006/main">
              <a:ext uri="{FF2B5EF4-FFF2-40B4-BE49-F238E27FC236}">
                <a16:creationId xmlns:a16="http://schemas.microsoft.com/office/drawing/2014/main" id="{CB68E177-7AA9-4C16-99C9-5AFB572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32" name="duration-approximation">
            <a:extLst xmlns:a="http://schemas.openxmlformats.org/drawingml/2006/main">
              <a:ext uri="{FF2B5EF4-FFF2-40B4-BE49-F238E27FC236}">
                <a16:creationId xmlns:a16="http://schemas.microsoft.com/office/drawing/2014/main" id="{0E284CC6-305B-4575-A8D8-6C05AAA4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ΔP/P ≈ −Dmod · Δy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300D4C-1489-4D44-A423-C643F3C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3877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E5FF"/>
            </a:solidFill>
            <a:prstDash val="solid"/>
          </a:ln>
        </p:spPr>
      </p:sp>
      <p:sp>
        <p:nvSpPr>
          <p:cNvPr id="34" name="duration-var-formula">
            <a:extLst xmlns:a="http://schemas.openxmlformats.org/drawingml/2006/main">
              <a:ext uri="{FF2B5EF4-FFF2-40B4-BE49-F238E27FC236}">
                <a16:creationId xmlns:a16="http://schemas.microsoft.com/office/drawing/2014/main" id="{C444B867-776E-453C-A599-143AE43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292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2525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252525"/>
                </a:solidFill>
                <a:latin typeface="Cambria Math"/>
                <a:ea typeface="Cambria Math"/>
                <a:cs typeface="Cambria Math"/>
              </a:rPr>
              <a:t>VaR(ΔP/P) = |D*| · VaR(Δy)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B425EF-643A-4B52-B27F-91FE8E4C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3877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E5FF"/>
            </a:solidFill>
            <a:prstDash val="solid"/>
          </a:ln>
        </p:spPr>
      </p:sp>
      <p:sp>
        <p:nvSpPr>
          <p:cNvPr id="36" name="five-year-example">
            <a:extLst xmlns:a="http://schemas.openxmlformats.org/drawingml/2006/main">
              <a:ext uri="{FF2B5EF4-FFF2-40B4-BE49-F238E27FC236}">
                <a16:creationId xmlns:a16="http://schemas.microsoft.com/office/drawing/2014/main" id="{D1E752E8-3C13-47E0-8B77-2B0296A1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292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5Y zero: 2.426% =</a:t>
            </a:r>
          </a:p>
          <a:p xmlns:a="http://schemas.openxmlformats.org/drawingml/2006/main">
            <a:pPr algn="l">
              <a:defRPr sz="135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4.719 × 0.514%</a:t>
            </a:r>
          </a:p>
        </p:txBody>
      </p:sp>
    </p:spTree>
    <p:extLst>
      <p:ext uri="{BB962C8B-B14F-4D97-AF65-F5344CB8AC3E}">
        <p14:creationId xmlns:p14="http://schemas.microsoft.com/office/powerpoint/2010/main" val="815150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outer-frame">
            <a:extLst xmlns:a="http://schemas.openxmlformats.org/drawingml/2006/main">
              <a:ext uri="{FF2B5EF4-FFF2-40B4-BE49-F238E27FC236}">
                <a16:creationId xmlns:a16="http://schemas.microsoft.com/office/drawing/2014/main" id="{75824A92-5CF6-4FFC-9BA1-A946DE32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634D6"/>
            </a:solidFill>
            <a:prstDash val="solid"/>
          </a:ln>
        </p:spPr>
      </p:sp>
      <p:sp>
        <p:nvSpPr>
          <p:cNvPr id="2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C06EE819-EFCB-43EB-8F0F-5ECE558B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Источник: Jorion, Chapter 11, PDF pp. 15-27</a:t>
            </a:r>
          </a:p>
        </p:txBody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474E8F7F-596A-433D-B013-17C5B295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Пример · $200m-eyebrow">
            <a:extLst xmlns:a="http://schemas.openxmlformats.org/drawingml/2006/main">
              <a:ext uri="{FF2B5EF4-FFF2-40B4-BE49-F238E27FC236}">
                <a16:creationId xmlns:a16="http://schemas.microsoft.com/office/drawing/2014/main" id="{B5D01DB9-D90B-45A9-B499-89D3235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478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478FF"/>
                </a:solidFill>
                <a:latin typeface="Arial"/>
                <a:ea typeface="Arial"/>
                <a:cs typeface="Arial"/>
              </a:rPr>
              <a:t>ПРИМЕР · $200M</a:t>
            </a:r>
          </a:p>
        </p:txBody>
      </p:sp>
      <p:sp>
        <p:nvSpPr>
          <p:cNvPr id="5" name="Пример · $200m-title">
            <a:extLst xmlns:a="http://schemas.openxmlformats.org/drawingml/2006/main">
              <a:ext uri="{FF2B5EF4-FFF2-40B4-BE49-F238E27FC236}">
                <a16:creationId xmlns:a16="http://schemas.microsoft.com/office/drawing/2014/main" id="{020D54DB-D7F1-4F09-8042-D0F8E940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Диверсификация снижает VaR до $2.57 млн</a:t>
            </a:r>
          </a:p>
        </p:txBody>
      </p:sp>
      <p:sp>
        <p:nvSpPr>
          <p:cNvPr id="6" name="var-chart-surface">
            <a:extLst xmlns:a="http://schemas.openxmlformats.org/drawingml/2006/main">
              <a:ext uri="{FF2B5EF4-FFF2-40B4-BE49-F238E27FC236}">
                <a16:creationId xmlns:a16="http://schemas.microsoft.com/office/drawing/2014/main" id="{19F7893A-01C7-450F-BB38-6C97835B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68770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9F6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7" name="var-chart-label">
            <a:extLst xmlns:a="http://schemas.openxmlformats.org/drawingml/2006/main">
              <a:ext uri="{FF2B5EF4-FFF2-40B4-BE49-F238E27FC236}">
                <a16:creationId xmlns:a16="http://schemas.microsoft.com/office/drawing/2014/main" id="{2F884592-F3F0-440E-8B96-BA3DA4F5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VaR портфеля, $ млн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781050" y="1952625"/>
          <a:ext xmlns:a="http://schemas.openxmlformats.org/drawingml/2006/main" cx="62293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d05ffea5cb443b"/>
          </a:graphicData>
        </a:graphic>
      </p:graphicFrame>
      <p:sp>
        <p:nvSpPr>
          <p:cNvPr id="9" name="portfolio-pill">
            <a:extLst xmlns:a="http://schemas.openxmlformats.org/drawingml/2006/main">
              <a:ext uri="{FF2B5EF4-FFF2-40B4-BE49-F238E27FC236}">
                <a16:creationId xmlns:a16="http://schemas.microsoft.com/office/drawing/2014/main" id="{B9723B79-B7A0-4E18-AB51-5C19A650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097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10" name="portfolio-composition">
            <a:extLst xmlns:a="http://schemas.openxmlformats.org/drawingml/2006/main">
              <a:ext uri="{FF2B5EF4-FFF2-40B4-BE49-F238E27FC236}">
                <a16:creationId xmlns:a16="http://schemas.microsoft.com/office/drawing/2014/main" id="{13186A2F-4B00-4DAA-9848-A9E5024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$100m  5Y @ 6%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$100m  1Y @ 4%</a:t>
            </a:r>
          </a:p>
        </p:txBody>
      </p:sp>
      <p:sp>
        <p:nvSpPr>
          <p:cNvPr id="11" name="portfolio-duration">
            <a:extLst xmlns:a="http://schemas.openxmlformats.org/drawingml/2006/main">
              <a:ext uri="{FF2B5EF4-FFF2-40B4-BE49-F238E27FC236}">
                <a16:creationId xmlns:a16="http://schemas.microsoft.com/office/drawing/2014/main" id="{88DBDA75-F739-4F1A-955E-3E26C519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193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Average maturity 3.0Y</a:t>
            </a:r>
          </a:p>
          <a:p xmlns:a="http://schemas.openxmlformats.org/drawingml/2006/main">
            <a:pPr algn="l">
              <a:defRPr sz="1275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Macaulay duration 2.733Y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ECD76-C188-4399-963A-6DE3CFC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E5FF"/>
            </a:solidFill>
            <a:prstDash val="solid"/>
          </a:ln>
        </p:spPr>
      </p:sp>
      <p:sp>
        <p:nvSpPr>
          <p:cNvPr id="13" name="duration-mapping-label">
            <a:extLst xmlns:a="http://schemas.openxmlformats.org/drawingml/2006/main">
              <a:ext uri="{FF2B5EF4-FFF2-40B4-BE49-F238E27FC236}">
                <a16:creationId xmlns:a16="http://schemas.microsoft.com/office/drawing/2014/main" id="{FC2861C8-67B1-4B17-88DC-82572EC9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478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478FF"/>
                </a:solidFill>
                <a:latin typeface="Arial"/>
                <a:ea typeface="Arial"/>
                <a:cs typeface="Arial"/>
              </a:rPr>
              <a:t>Duration mapping</a:t>
            </a:r>
          </a:p>
        </p:txBody>
      </p:sp>
      <p:sp>
        <p:nvSpPr>
          <p:cNvPr id="14" name="interpolated-risk">
            <a:extLst xmlns:a="http://schemas.openxmlformats.org/drawingml/2006/main">
              <a:ext uri="{FF2B5EF4-FFF2-40B4-BE49-F238E27FC236}">
                <a16:creationId xmlns:a16="http://schemas.microsoft.com/office/drawing/2014/main" id="{EB0B5F88-C74E-4087-87DE-2EB5EC86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Risk₂․₇₃₃ ≈ 1.3511%</a:t>
            </a:r>
          </a:p>
        </p:txBody>
      </p:sp>
      <p:sp>
        <p:nvSpPr>
          <p:cNvPr id="15" name="duration-var-result">
            <a:extLst xmlns:a="http://schemas.openxmlformats.org/drawingml/2006/main">
              <a:ext uri="{FF2B5EF4-FFF2-40B4-BE49-F238E27FC236}">
                <a16:creationId xmlns:a16="http://schemas.microsoft.com/office/drawing/2014/main" id="{E1F68E82-E9B7-4A98-A8AF-936AA73A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VaR = $200m × 1.3511% = $2.702m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65779-58D3-4E4A-85EE-2F19AC90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E5FF"/>
            </a:solidFill>
            <a:prstDash val="solid"/>
          </a:ln>
        </p:spPr>
      </p:sp>
      <p:sp>
        <p:nvSpPr>
          <p:cNvPr id="17" name="cashflow-mapping-label">
            <a:extLst xmlns:a="http://schemas.openxmlformats.org/drawingml/2006/main">
              <a:ext uri="{FF2B5EF4-FFF2-40B4-BE49-F238E27FC236}">
                <a16:creationId xmlns:a16="http://schemas.microsoft.com/office/drawing/2014/main" id="{20F53472-6E9A-486E-A548-552DEBD2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76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478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478FF"/>
                </a:solidFill>
                <a:latin typeface="Arial"/>
                <a:ea typeface="Arial"/>
                <a:cs typeface="Arial"/>
              </a:rPr>
              <a:t>Cash-flow mapping</a:t>
            </a:r>
          </a:p>
        </p:txBody>
      </p:sp>
      <p:sp>
        <p:nvSpPr>
          <p:cNvPr id="18" name="diversified-var-formula">
            <a:extLst xmlns:a="http://schemas.openxmlformats.org/drawingml/2006/main">
              <a:ext uri="{FF2B5EF4-FFF2-40B4-BE49-F238E27FC236}">
                <a16:creationId xmlns:a16="http://schemas.microsoft.com/office/drawing/2014/main" id="{1732511C-6E96-4D05-AC78-1C4105A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530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VaR (div.) = √(v′Rv) = $2.5736m</a:t>
            </a:r>
          </a:p>
        </p:txBody>
      </p:sp>
      <p:sp>
        <p:nvSpPr>
          <p:cNvPr id="19" name="diversification-insight">
            <a:extLst xmlns:a="http://schemas.openxmlformats.org/drawingml/2006/main">
              <a:ext uri="{FF2B5EF4-FFF2-40B4-BE49-F238E27FC236}">
                <a16:creationId xmlns:a16="http://schemas.microsoft.com/office/drawing/2014/main" id="{9E6B0E56-A422-4B31-B8A4-0C4FD00C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112520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cipal-reduction">
            <a:extLst xmlns:a="http://schemas.openxmlformats.org/drawingml/2006/main">
              <a:ext uri="{FF2B5EF4-FFF2-40B4-BE49-F238E27FC236}">
                <a16:creationId xmlns:a16="http://schemas.microsoft.com/office/drawing/2014/main" id="{1DE0F419-1730-41AE-A7A0-3C26DB7A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−13.3%</a:t>
            </a:r>
          </a:p>
        </p:txBody>
      </p:sp>
      <p:sp>
        <p:nvSpPr>
          <p:cNvPr id="21" name="principal-reduction-label">
            <a:extLst xmlns:a="http://schemas.openxmlformats.org/drawingml/2006/main">
              <a:ext uri="{FF2B5EF4-FFF2-40B4-BE49-F238E27FC236}">
                <a16:creationId xmlns:a16="http://schemas.microsoft.com/office/drawing/2014/main" id="{BDFA9D43-A323-48B8-BC51-E20A5022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388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к Principal mapping</a:t>
            </a:r>
          </a:p>
        </p:txBody>
      </p:sp>
      <p:sp>
        <p:nvSpPr>
          <p:cNvPr id="22" name="correlation-benefit">
            <a:extLst xmlns:a="http://schemas.openxmlformats.org/drawingml/2006/main">
              <a:ext uri="{FF2B5EF4-FFF2-40B4-BE49-F238E27FC236}">
                <a16:creationId xmlns:a16="http://schemas.microsoft.com/office/drawing/2014/main" id="{415686BB-01FE-4221-B3F5-5F94E47D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102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−$0.0603m</a:t>
            </a:r>
          </a:p>
        </p:txBody>
      </p:sp>
      <p:sp>
        <p:nvSpPr>
          <p:cNvPr id="23" name="correlation-benefit-label">
            <a:extLst xmlns:a="http://schemas.openxmlformats.org/drawingml/2006/main">
              <a:ext uri="{FF2B5EF4-FFF2-40B4-BE49-F238E27FC236}">
                <a16:creationId xmlns:a16="http://schemas.microsoft.com/office/drawing/2014/main" id="{581FAD3F-35A9-4683-BE3F-7297D86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3882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52525"/>
                </a:solidFill>
                <a:latin typeface="Arial"/>
                <a:ea typeface="Arial"/>
                <a:cs typeface="Arial"/>
              </a:rPr>
              <a:t>эффект корреляций vs CF undiversified</a:t>
            </a:r>
          </a:p>
        </p:txBody>
      </p:sp>
    </p:spTree>
    <p:extLst>
      <p:ext uri="{BB962C8B-B14F-4D97-AF65-F5344CB8AC3E}">
        <p14:creationId xmlns:p14="http://schemas.microsoft.com/office/powerpoint/2010/main" val="1561925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outer-frame">
            <a:extLst xmlns:a="http://schemas.openxmlformats.org/drawingml/2006/main">
              <a:ext uri="{FF2B5EF4-FFF2-40B4-BE49-F238E27FC236}">
                <a16:creationId xmlns:a16="http://schemas.microsoft.com/office/drawing/2014/main" id="{CA6B070B-9321-47E2-92ED-72E50FA0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634D6"/>
            </a:solidFill>
            <a:prstDash val="solid"/>
          </a:ln>
        </p:spPr>
      </p:sp>
      <p:sp>
        <p:nvSpPr>
          <p:cNvPr id="2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D319B557-11B5-498E-83FD-62AC85E1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Источник: Jorion, Chapter 11, PDF pp. 29-33</a:t>
            </a:r>
          </a:p>
        </p:txBody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1096143A-8749-45C9-BBD9-41DAE16E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Применение-eyebrow">
            <a:extLst xmlns:a="http://schemas.openxmlformats.org/drawingml/2006/main">
              <a:ext uri="{FF2B5EF4-FFF2-40B4-BE49-F238E27FC236}">
                <a16:creationId xmlns:a16="http://schemas.microsoft.com/office/drawing/2014/main" id="{389296C0-BFD1-4416-9513-F3FE9DE7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478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478FF"/>
                </a:solidFill>
                <a:latin typeface="Arial"/>
                <a:ea typeface="Arial"/>
                <a:cs typeface="Arial"/>
              </a:rPr>
              <a:t>ПРИМЕНЕНИЕ</a:t>
            </a:r>
          </a:p>
        </p:txBody>
      </p:sp>
      <p:sp>
        <p:nvSpPr>
          <p:cNvPr id="5" name="Применение-title">
            <a:extLst xmlns:a="http://schemas.openxmlformats.org/drawingml/2006/main">
              <a:ext uri="{FF2B5EF4-FFF2-40B4-BE49-F238E27FC236}">
                <a16:creationId xmlns:a16="http://schemas.microsoft.com/office/drawing/2014/main" id="{104A70E1-9C36-4884-8C0B-87DBDB75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2634D6"/>
                </a:solidFill>
                <a:latin typeface="Arial"/>
                <a:ea typeface="Arial"/>
                <a:cs typeface="Arial"/>
              </a:rPr>
              <a:t>Сложный инструмент = набор building blocks</a:t>
            </a:r>
          </a:p>
        </p:txBody>
      </p:sp>
      <p:sp>
        <p:nvSpPr>
          <p:cNvPr id="6" name="instrument-column-label">
            <a:extLst xmlns:a="http://schemas.openxmlformats.org/drawingml/2006/main">
              <a:ext uri="{FF2B5EF4-FFF2-40B4-BE49-F238E27FC236}">
                <a16:creationId xmlns:a16="http://schemas.microsoft.com/office/drawing/2014/main" id="{F6232AD7-A9C7-4EF9-B246-E039F85D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ИНСТРУМЕНТ</a:t>
            </a:r>
          </a:p>
        </p:txBody>
      </p:sp>
      <p:sp>
        <p:nvSpPr>
          <p:cNvPr id="7" name="decomposition-column-label">
            <a:extLst xmlns:a="http://schemas.openxmlformats.org/drawingml/2006/main">
              <a:ext uri="{FF2B5EF4-FFF2-40B4-BE49-F238E27FC236}">
                <a16:creationId xmlns:a16="http://schemas.microsoft.com/office/drawing/2014/main" id="{BF27D1FA-33A0-434B-9AA3-49CEC33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239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ДЕКОМПОЗИЦИЯ</a:t>
            </a:r>
          </a:p>
        </p:txBody>
      </p:sp>
      <p:sp>
        <p:nvSpPr>
          <p:cNvPr id="8" name="valuation-column-label">
            <a:extLst xmlns:a="http://schemas.openxmlformats.org/drawingml/2006/main">
              <a:ext uri="{FF2B5EF4-FFF2-40B4-BE49-F238E27FC236}">
                <a16:creationId xmlns:a16="http://schemas.microsoft.com/office/drawing/2014/main" id="{B4C358A9-D9C6-4D74-A357-B2923120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239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0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5708A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9" name="instrument-row-1">
            <a:extLst xmlns:a="http://schemas.openxmlformats.org/drawingml/2006/main">
              <a:ext uri="{FF2B5EF4-FFF2-40B4-BE49-F238E27FC236}">
                <a16:creationId xmlns:a16="http://schemas.microsoft.com/office/drawing/2014/main" id="{D799EE56-E766-4411-8E77-D9A0D812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10" name="instrument-label-1">
            <a:extLst xmlns:a="http://schemas.openxmlformats.org/drawingml/2006/main">
              <a:ext uri="{FF2B5EF4-FFF2-40B4-BE49-F238E27FC236}">
                <a16:creationId xmlns:a16="http://schemas.microsoft.com/office/drawing/2014/main" id="{55A67DC8-8D95-460E-B116-3C6ADC2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7907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FX forward</a:t>
            </a:r>
          </a:p>
        </p:txBody>
      </p:sp>
      <p:sp>
        <p:nvSpPr>
          <p:cNvPr id="11" name="instrument-1-block-1">
            <a:extLst xmlns:a="http://schemas.openxmlformats.org/drawingml/2006/main">
              <a:ext uri="{FF2B5EF4-FFF2-40B4-BE49-F238E27FC236}">
                <a16:creationId xmlns:a16="http://schemas.microsoft.com/office/drawing/2014/main" id="{E30861AB-6869-4121-A38F-9DA24C2F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1276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+  FX spot</a:t>
            </a:r>
          </a:p>
        </p:txBody>
      </p:sp>
      <p:sp>
        <p:nvSpPr>
          <p:cNvPr id="12" name="instrument-1-block-2">
            <a:extLst xmlns:a="http://schemas.openxmlformats.org/drawingml/2006/main">
              <a:ext uri="{FF2B5EF4-FFF2-40B4-BE49-F238E27FC236}">
                <a16:creationId xmlns:a16="http://schemas.microsoft.com/office/drawing/2014/main" id="{5E157157-D518-4013-8C88-2C9A441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81175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+  foreign bill</a:t>
            </a:r>
          </a:p>
        </p:txBody>
      </p:sp>
      <p:sp>
        <p:nvSpPr>
          <p:cNvPr id="13" name="instrument-1-block-3">
            <a:extLst xmlns:a="http://schemas.openxmlformats.org/drawingml/2006/main">
              <a:ext uri="{FF2B5EF4-FFF2-40B4-BE49-F238E27FC236}">
                <a16:creationId xmlns:a16="http://schemas.microsoft.com/office/drawing/2014/main" id="{1B9F31C6-087D-422F-A43C-A724697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81175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−  domestic bill</a:t>
            </a:r>
          </a:p>
        </p:txBody>
      </p:sp>
      <p:sp>
        <p:nvSpPr>
          <p:cNvPr id="14" name="instrument-formula-1">
            <a:extLst xmlns:a="http://schemas.openxmlformats.org/drawingml/2006/main">
              <a:ext uri="{FF2B5EF4-FFF2-40B4-BE49-F238E27FC236}">
                <a16:creationId xmlns:a16="http://schemas.microsoft.com/office/drawing/2014/main" id="{4FD4D327-5B73-45CC-B6BE-1A1846AC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2402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fₜ = Sₜe⁻ʸᵀ − Ke⁻ʳᵀ</a:t>
            </a:r>
          </a:p>
        </p:txBody>
      </p:sp>
      <p:sp>
        <p:nvSpPr>
          <p:cNvPr id="15" name="instrument-row-2">
            <a:extLst xmlns:a="http://schemas.openxmlformats.org/drawingml/2006/main">
              <a:ext uri="{FF2B5EF4-FFF2-40B4-BE49-F238E27FC236}">
                <a16:creationId xmlns:a16="http://schemas.microsoft.com/office/drawing/2014/main" id="{52B0C571-BC37-47BF-9998-880A7A73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111252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16" name="instrument-label-2">
            <a:extLst xmlns:a="http://schemas.openxmlformats.org/drawingml/2006/main">
              <a:ext uri="{FF2B5EF4-FFF2-40B4-BE49-F238E27FC236}">
                <a16:creationId xmlns:a16="http://schemas.microsoft.com/office/drawing/2014/main" id="{4E704AF6-BA7D-4BF2-8B91-82EC768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7907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 6×12</a:t>
            </a:r>
          </a:p>
        </p:txBody>
      </p:sp>
      <p:sp>
        <p:nvSpPr>
          <p:cNvPr id="17" name="instrument-2-block-1">
            <a:extLst xmlns:a="http://schemas.openxmlformats.org/drawingml/2006/main">
              <a:ext uri="{FF2B5EF4-FFF2-40B4-BE49-F238E27FC236}">
                <a16:creationId xmlns:a16="http://schemas.microsoft.com/office/drawing/2014/main" id="{28583E1B-54B8-4890-AE82-50A90056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2019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+  6M zero</a:t>
            </a:r>
          </a:p>
        </p:txBody>
      </p:sp>
      <p:sp>
        <p:nvSpPr>
          <p:cNvPr id="18" name="instrument-2-block-2">
            <a:extLst xmlns:a="http://schemas.openxmlformats.org/drawingml/2006/main">
              <a:ext uri="{FF2B5EF4-FFF2-40B4-BE49-F238E27FC236}">
                <a16:creationId xmlns:a16="http://schemas.microsoft.com/office/drawing/2014/main" id="{5D858168-7E49-4393-A147-4F4BB0C2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14625"/>
            <a:ext cx="1695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−  12M zero</a:t>
            </a:r>
          </a:p>
        </p:txBody>
      </p:sp>
      <p:sp>
        <p:nvSpPr>
          <p:cNvPr id="19" name="instrument-formula-2">
            <a:extLst xmlns:a="http://schemas.openxmlformats.org/drawingml/2006/main">
              <a:ext uri="{FF2B5EF4-FFF2-40B4-BE49-F238E27FC236}">
                <a16:creationId xmlns:a16="http://schemas.microsoft.com/office/drawing/2014/main" id="{1DFA1B14-034E-4401-B0A7-00D08C8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5747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long 6M  /  short 12M</a:t>
            </a:r>
          </a:p>
        </p:txBody>
      </p:sp>
      <p:sp>
        <p:nvSpPr>
          <p:cNvPr id="20" name="instrument-row-3">
            <a:extLst xmlns:a="http://schemas.openxmlformats.org/drawingml/2006/main">
              <a:ext uri="{FF2B5EF4-FFF2-40B4-BE49-F238E27FC236}">
                <a16:creationId xmlns:a16="http://schemas.microsoft.com/office/drawing/2014/main" id="{57FDB379-53BD-41D9-90E5-FDC9A74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11252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21" name="instrument-label-3">
            <a:extLst xmlns:a="http://schemas.openxmlformats.org/drawingml/2006/main">
              <a:ext uri="{FF2B5EF4-FFF2-40B4-BE49-F238E27FC236}">
                <a16:creationId xmlns:a16="http://schemas.microsoft.com/office/drawing/2014/main" id="{F14D4D90-266E-4294-9E91-41C7F28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7907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Pay-fixed swap</a:t>
            </a:r>
          </a:p>
        </p:txBody>
      </p:sp>
      <p:sp>
        <p:nvSpPr>
          <p:cNvPr id="22" name="instrument-3-block-1">
            <a:extLst xmlns:a="http://schemas.openxmlformats.org/drawingml/2006/main">
              <a:ext uri="{FF2B5EF4-FFF2-40B4-BE49-F238E27FC236}">
                <a16:creationId xmlns:a16="http://schemas.microsoft.com/office/drawing/2014/main" id="{1265DB02-0C42-4A17-830C-055A8044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48075"/>
            <a:ext cx="2019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+  floating-rate note</a:t>
            </a:r>
          </a:p>
        </p:txBody>
      </p:sp>
      <p:sp>
        <p:nvSpPr>
          <p:cNvPr id="23" name="instrument-3-block-2">
            <a:extLst xmlns:a="http://schemas.openxmlformats.org/drawingml/2006/main">
              <a:ext uri="{FF2B5EF4-FFF2-40B4-BE49-F238E27FC236}">
                <a16:creationId xmlns:a16="http://schemas.microsoft.com/office/drawing/2014/main" id="{9C12D91B-3CD8-4575-99A7-37441FCF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48075"/>
            <a:ext cx="1695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−  fixed leg</a:t>
            </a:r>
          </a:p>
        </p:txBody>
      </p:sp>
      <p:sp>
        <p:nvSpPr>
          <p:cNvPr id="24" name="instrument-formula-3">
            <a:extLst xmlns:a="http://schemas.openxmlformats.org/drawingml/2006/main">
              <a:ext uri="{FF2B5EF4-FFF2-40B4-BE49-F238E27FC236}">
                <a16:creationId xmlns:a16="http://schemas.microsoft.com/office/drawing/2014/main" id="{253C45BC-E1EA-43EE-AD47-9CC5E897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9092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Vswap = Vfloat − Vfixed</a:t>
            </a:r>
          </a:p>
        </p:txBody>
      </p:sp>
      <p:sp>
        <p:nvSpPr>
          <p:cNvPr id="25" name="instrument-row-4">
            <a:extLst xmlns:a="http://schemas.openxmlformats.org/drawingml/2006/main">
              <a:ext uri="{FF2B5EF4-FFF2-40B4-BE49-F238E27FC236}">
                <a16:creationId xmlns:a16="http://schemas.microsoft.com/office/drawing/2014/main" id="{ADDE803B-475B-4332-9361-29E55B0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1252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1E5FF"/>
            </a:solidFill>
            <a:prstDash val="solid"/>
          </a:ln>
        </p:spPr>
      </p:sp>
      <p:sp>
        <p:nvSpPr>
          <p:cNvPr id="26" name="instrument-label-4">
            <a:extLst xmlns:a="http://schemas.openxmlformats.org/drawingml/2006/main">
              <a:ext uri="{FF2B5EF4-FFF2-40B4-BE49-F238E27FC236}">
                <a16:creationId xmlns:a16="http://schemas.microsoft.com/office/drawing/2014/main" id="{05F9F0E9-8F36-4B3B-A192-81C2490A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7907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 option</a:t>
            </a:r>
          </a:p>
        </p:txBody>
      </p:sp>
      <p:sp>
        <p:nvSpPr>
          <p:cNvPr id="27" name="instrument-4-block-1">
            <a:extLst xmlns:a="http://schemas.openxmlformats.org/drawingml/2006/main">
              <a:ext uri="{FF2B5EF4-FFF2-40B4-BE49-F238E27FC236}">
                <a16:creationId xmlns:a16="http://schemas.microsoft.com/office/drawing/2014/main" id="{9430D309-98C9-48C8-B170-25AA4CC8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81525"/>
            <a:ext cx="2019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E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4D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4D6"/>
                </a:solidFill>
                <a:latin typeface="Arial"/>
                <a:ea typeface="Arial"/>
                <a:cs typeface="Arial"/>
              </a:rPr>
              <a:t>+  Δ shares</a:t>
            </a:r>
          </a:p>
        </p:txBody>
      </p:sp>
      <p:sp>
        <p:nvSpPr>
          <p:cNvPr id="28" name="instrument-4-block-2">
            <a:extLst xmlns:a="http://schemas.openxmlformats.org/drawingml/2006/main">
              <a:ext uri="{FF2B5EF4-FFF2-40B4-BE49-F238E27FC236}">
                <a16:creationId xmlns:a16="http://schemas.microsoft.com/office/drawing/2014/main" id="{B5E7ADFB-6577-40A0-A7F9-A1EDBBCC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81525"/>
            <a:ext cx="1695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−  borrowing</a:t>
            </a:r>
          </a:p>
        </p:txBody>
      </p:sp>
      <p:sp>
        <p:nvSpPr>
          <p:cNvPr id="29" name="instrument-formula-4">
            <a:extLst xmlns:a="http://schemas.openxmlformats.org/drawingml/2006/main">
              <a:ext uri="{FF2B5EF4-FFF2-40B4-BE49-F238E27FC236}">
                <a16:creationId xmlns:a16="http://schemas.microsoft.com/office/drawing/2014/main" id="{56CEC013-4F75-4E0A-B0EA-0E2A46B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634D6"/>
                </a:solidFill>
                <a:latin typeface="Cambria Math"/>
                <a:ea typeface="Cambria Math"/>
                <a:cs typeface="Cambria Math"/>
              </a:rPr>
              <a:t>C ≈ ΔS − B;  B = ΔS − C</a:t>
            </a:r>
          </a:p>
        </p:txBody>
      </p:sp>
      <p:sp>
        <p:nvSpPr>
          <p:cNvPr id="30" name="closing-principle">
            <a:extLst xmlns:a="http://schemas.openxmlformats.org/drawingml/2006/main">
              <a:ext uri="{FF2B5EF4-FFF2-40B4-BE49-F238E27FC236}">
                <a16:creationId xmlns:a16="http://schemas.microsoft.com/office/drawing/2014/main" id="{628E0B33-E7B7-4E3E-90C1-4ED7A0BB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34D6"/>
          </a:solidFill>
          <a:ln xmlns:a="http://schemas.openxmlformats.org/drawingml/2006/main" w="9525">
            <a:solidFill>
              <a:srgbClr val="2634D6"/>
            </a:solidFill>
            <a:prstDash val="solid"/>
          </a:ln>
        </p:spPr>
      </p:sp>
      <p:sp>
        <p:nvSpPr>
          <p:cNvPr id="31" name="closing-step-1">
            <a:extLst xmlns:a="http://schemas.openxmlformats.org/drawingml/2006/main">
              <a:ext uri="{FF2B5EF4-FFF2-40B4-BE49-F238E27FC236}">
                <a16:creationId xmlns:a16="http://schemas.microsoft.com/office/drawing/2014/main" id="{ABAD4649-54CB-4D66-93EA-FBE01F9D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ДЕКОМПОЗИРОВАТЬ</a:t>
            </a:r>
          </a:p>
        </p:txBody>
      </p:sp>
      <p:sp>
        <p:nvSpPr>
          <p:cNvPr id="32" name="closing-arrow-1">
            <a:extLst xmlns:a="http://schemas.openxmlformats.org/drawingml/2006/main">
              <a:ext uri="{FF2B5EF4-FFF2-40B4-BE49-F238E27FC236}">
                <a16:creationId xmlns:a16="http://schemas.microsoft.com/office/drawing/2014/main" id="{6AD8E20A-D762-407A-B8D1-5597B71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6292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3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73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closing-step-2">
            <a:extLst xmlns:a="http://schemas.openxmlformats.org/drawingml/2006/main">
              <a:ext uri="{FF2B5EF4-FFF2-40B4-BE49-F238E27FC236}">
                <a16:creationId xmlns:a16="http://schemas.microsoft.com/office/drawing/2014/main" id="{F0565ABE-29FA-48DC-844A-3F5C68D6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05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СОПОСТАВИТЬ ФАКТОР</a:t>
            </a:r>
          </a:p>
        </p:txBody>
      </p:sp>
      <p:sp>
        <p:nvSpPr>
          <p:cNvPr id="34" name="closing-arrow-2">
            <a:extLst xmlns:a="http://schemas.openxmlformats.org/drawingml/2006/main">
              <a:ext uri="{FF2B5EF4-FFF2-40B4-BE49-F238E27FC236}">
                <a16:creationId xmlns:a16="http://schemas.microsoft.com/office/drawing/2014/main" id="{B324E79E-9591-4C26-9D03-315616E6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292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3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73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closing-step-3">
            <a:extLst xmlns:a="http://schemas.openxmlformats.org/drawingml/2006/main">
              <a:ext uri="{FF2B5EF4-FFF2-40B4-BE49-F238E27FC236}">
                <a16:creationId xmlns:a16="http://schemas.microsoft.com/office/drawing/2014/main" id="{D51B4BB9-F3C4-44AC-B851-E938E14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054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АГРЕГИРОВАТЬ  √(v′Rv)</a:t>
            </a:r>
          </a:p>
        </p:txBody>
      </p:sp>
    </p:spTree>
    <p:extLst>
      <p:ext uri="{BB962C8B-B14F-4D97-AF65-F5344CB8AC3E}">
        <p14:creationId xmlns:p14="http://schemas.microsoft.com/office/powerpoint/2010/main" val="1068793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2026-07-11T07:34:42.6560000Z</dcterms:created>
  <dcterms:modified xsi:type="dcterms:W3CDTF">2026-07-11T07:34:42.6560000Z</dcterms:modified>
</coreProperties>
</file>